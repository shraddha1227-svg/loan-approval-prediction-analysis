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9" r:id="rId4"/>
    <p:sldId id="261" r:id="rId5"/>
    <p:sldId id="262" r:id="rId6"/>
    <p:sldId id="263" r:id="rId7"/>
    <p:sldId id="260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870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043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7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01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380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65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72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900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913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34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6623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78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147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961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194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104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4100B-4DAE-476B-8113-12213D77F5F1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1B9C353-572A-4850-8C89-EC76DF0DAD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447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402CB1-5C7A-4128-B178-BBC9B94B0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992" y="477821"/>
            <a:ext cx="2334970" cy="19996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927CB8-96E3-4116-8C86-CCB5AB29C2F3}"/>
              </a:ext>
            </a:extLst>
          </p:cNvPr>
          <p:cNvSpPr txBox="1"/>
          <p:nvPr/>
        </p:nvSpPr>
        <p:spPr>
          <a:xfrm>
            <a:off x="7239787" y="4475284"/>
            <a:ext cx="45814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Miss Shraddha Sonawane</a:t>
            </a:r>
          </a:p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Msc Statistics</a:t>
            </a:r>
          </a:p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Prn No: 1332250077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1174E0-F150-4795-B484-DB37D988B9D1}"/>
              </a:ext>
            </a:extLst>
          </p:cNvPr>
          <p:cNvSpPr txBox="1"/>
          <p:nvPr/>
        </p:nvSpPr>
        <p:spPr>
          <a:xfrm>
            <a:off x="131975" y="1404594"/>
            <a:ext cx="900966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 Prediction Using   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238131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65698-74D1-4F88-842A-1F978827D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608" y="480768"/>
            <a:ext cx="11255603" cy="867265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F3A49-E04B-420A-BDB0-F7BC1B20F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1666" y="1348033"/>
            <a:ext cx="9775596" cy="5279010"/>
          </a:xfrm>
        </p:spPr>
        <p:txBody>
          <a:bodyPr>
            <a:normAutofit fontScale="25000" lnSpcReduction="20000"/>
          </a:bodyPr>
          <a:lstStyle/>
          <a:p>
            <a:endParaRPr lang="en-IN" b="1" dirty="0"/>
          </a:p>
          <a:p>
            <a:pPr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for this project is obtained from Kaggle.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variables as applicant details, income, loan amount, credit history, and loan status and size (45000,14).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predict whether a loan application will be approved or rejected.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 and feature selection are performed to prepare the data for modelling.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Regression, Decision Tree, and SVM algorithms are used for prediction.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weighting and SMOTE are applied to address class imbalance.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is evaluated using accuracy, precision, recall, and F1-score.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aim is to identify a suitable machine learning model for loan approval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2193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9035-33E9-414E-831D-B88563648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971" y="490194"/>
            <a:ext cx="7541443" cy="87669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Matrix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5476F4-187A-4539-BC14-77EF6C102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752" y="1545996"/>
            <a:ext cx="7541443" cy="48218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CA83FA-0732-4786-957F-D0C2F2BE07C5}"/>
              </a:ext>
            </a:extLst>
          </p:cNvPr>
          <p:cNvSpPr txBox="1"/>
          <p:nvPr/>
        </p:nvSpPr>
        <p:spPr>
          <a:xfrm>
            <a:off x="8182465" y="1366887"/>
            <a:ext cx="378014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heatmap shows a strong correlation between </a:t>
            </a:r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(0.95). Loan Status is moderately correlated with </a:t>
            </a:r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Loan Percentage </a:t>
            </a:r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(0.38) and</a:t>
            </a:r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Loan Interest Rate </a:t>
            </a:r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(0.33). These relationships help identify potential multicollinearity and understand feature associations.</a:t>
            </a:r>
          </a:p>
        </p:txBody>
      </p:sp>
    </p:spTree>
    <p:extLst>
      <p:ext uri="{BB962C8B-B14F-4D97-AF65-F5344CB8AC3E}">
        <p14:creationId xmlns:p14="http://schemas.microsoft.com/office/powerpoint/2010/main" val="652094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154BDF-6031-4AED-B602-B13F197BB5E7}"/>
              </a:ext>
            </a:extLst>
          </p:cNvPr>
          <p:cNvSpPr txBox="1"/>
          <p:nvPr/>
        </p:nvSpPr>
        <p:spPr>
          <a:xfrm>
            <a:off x="1621410" y="565608"/>
            <a:ext cx="1057059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Gender, Education, and Previous Loan columns.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the remaining variables for model building.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categorical variables into numerical values using Label Encoding.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the data for machine learning algorithms.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80% training and 20% testing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was used to build models, while testing data evaluated their performance.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53D81B0-807C-47E1-BFA9-7C41A132D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47508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14FF03A9-8DD8-4480-9F96-1F1AEB3A5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700" y="795408"/>
            <a:ext cx="7937369" cy="559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7474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86BBD3-58AF-48AE-866D-177E65A86061}"/>
              </a:ext>
            </a:extLst>
          </p:cNvPr>
          <p:cNvSpPr txBox="1"/>
          <p:nvPr/>
        </p:nvSpPr>
        <p:spPr>
          <a:xfrm>
            <a:off x="1611984" y="414779"/>
            <a:ext cx="10133814" cy="4211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Analysis 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SMOTE: Training dataset contained 36,000 observations and 10 features.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SMOTE: Training dataset increased to 56,000 observations by generating synthetic minority-class samples.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Dataset: Remained unchanged at 9,000 observations to ensure fair model evaluation.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Balance the target classes and improve minority-class prediction.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Compare model performance before and after SMOTE using precision, recall, F1-score, and accuracy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48B5CA5-2F5C-42C1-9E09-7D383C4E5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054593"/>
              </p:ext>
            </p:extLst>
          </p:nvPr>
        </p:nvGraphicFramePr>
        <p:xfrm>
          <a:off x="1885360" y="4705862"/>
          <a:ext cx="8880048" cy="16685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0012">
                  <a:extLst>
                    <a:ext uri="{9D8B030D-6E8A-4147-A177-3AD203B41FA5}">
                      <a16:colId xmlns:a16="http://schemas.microsoft.com/office/drawing/2014/main" val="1512442762"/>
                    </a:ext>
                  </a:extLst>
                </a:gridCol>
                <a:gridCol w="2220012">
                  <a:extLst>
                    <a:ext uri="{9D8B030D-6E8A-4147-A177-3AD203B41FA5}">
                      <a16:colId xmlns:a16="http://schemas.microsoft.com/office/drawing/2014/main" val="2394396486"/>
                    </a:ext>
                  </a:extLst>
                </a:gridCol>
                <a:gridCol w="2220012">
                  <a:extLst>
                    <a:ext uri="{9D8B030D-6E8A-4147-A177-3AD203B41FA5}">
                      <a16:colId xmlns:a16="http://schemas.microsoft.com/office/drawing/2014/main" val="2580145596"/>
                    </a:ext>
                  </a:extLst>
                </a:gridCol>
                <a:gridCol w="2220012">
                  <a:extLst>
                    <a:ext uri="{9D8B030D-6E8A-4147-A177-3AD203B41FA5}">
                      <a16:colId xmlns:a16="http://schemas.microsoft.com/office/drawing/2014/main" val="2213393324"/>
                    </a:ext>
                  </a:extLst>
                </a:gridCol>
              </a:tblGrid>
              <a:tr h="326466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Overfitting 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565211"/>
                  </a:ext>
                </a:extLst>
              </a:tr>
              <a:tr h="571314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033848"/>
                  </a:ext>
                </a:extLst>
              </a:tr>
              <a:tr h="326466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86.22%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−4.38%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413374"/>
                  </a:ext>
                </a:extLst>
              </a:tr>
              <a:tr h="326466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83.24%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2070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026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A0262-2B19-4EC9-A362-E2CCB853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704" y="624110"/>
            <a:ext cx="9521072" cy="573094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Weighting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56D76-2701-4AD6-9CB0-20DBF4637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522" y="1528314"/>
            <a:ext cx="10982226" cy="2647760"/>
          </a:xfrm>
        </p:spPr>
        <p:txBody>
          <a:bodyPr>
            <a:normAutofit fontScale="70000" lnSpcReduction="20000"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weighting assigns higher importance to the minority class during model training.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reduce bias toward the majority class in an imbalanced dataset.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Logistic Regression, Decision Tree, and SVM were developed and compared.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was evaluated using training accuracy, testing accuracy, and overfitting gap</a:t>
            </a:r>
            <a:r>
              <a:rPr lang="en-IN" sz="3400" dirty="0"/>
              <a:t>.</a:t>
            </a:r>
          </a:p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EC29CE1-2F42-4942-8DAB-F1E6B0BD7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567446"/>
              </p:ext>
            </p:extLst>
          </p:nvPr>
        </p:nvGraphicFramePr>
        <p:xfrm>
          <a:off x="1583703" y="4458877"/>
          <a:ext cx="10124388" cy="20444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9443">
                  <a:extLst>
                    <a:ext uri="{9D8B030D-6E8A-4147-A177-3AD203B41FA5}">
                      <a16:colId xmlns:a16="http://schemas.microsoft.com/office/drawing/2014/main" val="786803799"/>
                    </a:ext>
                  </a:extLst>
                </a:gridCol>
                <a:gridCol w="2508315">
                  <a:extLst>
                    <a:ext uri="{9D8B030D-6E8A-4147-A177-3AD203B41FA5}">
                      <a16:colId xmlns:a16="http://schemas.microsoft.com/office/drawing/2014/main" val="3556767233"/>
                    </a:ext>
                  </a:extLst>
                </a:gridCol>
                <a:gridCol w="2508315">
                  <a:extLst>
                    <a:ext uri="{9D8B030D-6E8A-4147-A177-3AD203B41FA5}">
                      <a16:colId xmlns:a16="http://schemas.microsoft.com/office/drawing/2014/main" val="793834028"/>
                    </a:ext>
                  </a:extLst>
                </a:gridCol>
                <a:gridCol w="2508315">
                  <a:extLst>
                    <a:ext uri="{9D8B030D-6E8A-4147-A177-3AD203B41FA5}">
                      <a16:colId xmlns:a16="http://schemas.microsoft.com/office/drawing/2014/main" val="660089898"/>
                    </a:ext>
                  </a:extLst>
                </a:gridCol>
              </a:tblGrid>
              <a:tr h="497755"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Overfitting 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328764"/>
                  </a:ext>
                </a:extLst>
              </a:tr>
              <a:tr h="615256"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−0.48%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802616"/>
                  </a:ext>
                </a:extLst>
              </a:tr>
              <a:tr h="540851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Decision Tree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87.34%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418347"/>
                  </a:ext>
                </a:extLst>
              </a:tr>
              <a:tr h="344621"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543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422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Generated image: Weighted Models Performance Summary">
            <a:extLst>
              <a:ext uri="{FF2B5EF4-FFF2-40B4-BE49-F238E27FC236}">
                <a16:creationId xmlns:a16="http://schemas.microsoft.com/office/drawing/2014/main" id="{2DB9C6BB-5918-4E4D-BAB7-092E33AB5F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49441B-778C-4503-B387-DB680DD4B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362402"/>
            <a:ext cx="10067435" cy="61986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2499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B7D033-FA32-4DE0-87A3-7CE7079DC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402" y="228158"/>
            <a:ext cx="4305300" cy="3743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65F37E-4951-4E61-A975-F003FF560842}"/>
              </a:ext>
            </a:extLst>
          </p:cNvPr>
          <p:cNvSpPr txBox="1"/>
          <p:nvPr/>
        </p:nvSpPr>
        <p:spPr>
          <a:xfrm>
            <a:off x="829559" y="1319753"/>
            <a:ext cx="652334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– Weighted Decision Tree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Negative (6451): Correctly predicted applications as Class 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(549): Incorrectly predicted Class 0 applications as Class 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 (590): Incorrectly predicted Class 1 applications as Class 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 (1410): Correctly predicted applications as Class 1.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 The model correctly classified 7,861 out of 9,000 applications, achieving 87.34% accuracy. It performs well in identifying Class 0, but some Class 1 cases are misclassified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8059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104DA7-CEDC-4BF6-B6A9-4F296BF8A68F}"/>
              </a:ext>
            </a:extLst>
          </p:cNvPr>
          <p:cNvSpPr txBox="1"/>
          <p:nvPr/>
        </p:nvSpPr>
        <p:spPr>
          <a:xfrm>
            <a:off x="1555422" y="612742"/>
            <a:ext cx="10171521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can support loan approval prediction.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techniques help address unequal class representation.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Decision Tree performed best based on accuracy, precision, and F1-score.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selection should also consider the business cost of incorrect predictions.</a:t>
            </a:r>
          </a:p>
        </p:txBody>
      </p:sp>
    </p:spTree>
    <p:extLst>
      <p:ext uri="{BB962C8B-B14F-4D97-AF65-F5344CB8AC3E}">
        <p14:creationId xmlns:p14="http://schemas.microsoft.com/office/powerpoint/2010/main" val="1127386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DD01B-A4B5-49FF-AA28-B63765623E58}"/>
              </a:ext>
            </a:extLst>
          </p:cNvPr>
          <p:cNvSpPr txBox="1"/>
          <p:nvPr/>
        </p:nvSpPr>
        <p:spPr>
          <a:xfrm>
            <a:off x="2045616" y="2300141"/>
            <a:ext cx="73396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30175023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343</TotalTime>
  <Words>584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Times New Roman</vt:lpstr>
      <vt:lpstr>Wingdings</vt:lpstr>
      <vt:lpstr>Wingdings 3</vt:lpstr>
      <vt:lpstr>Wisp</vt:lpstr>
      <vt:lpstr>PowerPoint Presentation</vt:lpstr>
      <vt:lpstr>Introduction</vt:lpstr>
      <vt:lpstr>Correlation Matrix</vt:lpstr>
      <vt:lpstr>PowerPoint Presentation</vt:lpstr>
      <vt:lpstr>PowerPoint Presentation</vt:lpstr>
      <vt:lpstr>PowerPoint Presentation</vt:lpstr>
      <vt:lpstr>Class Weighting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19</cp:revision>
  <dcterms:created xsi:type="dcterms:W3CDTF">2026-10-09T17:24:59Z</dcterms:created>
  <dcterms:modified xsi:type="dcterms:W3CDTF">2026-10-16T07:54:53Z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